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534D7F-671D-DF4D-A257-5A42C3E2024E}" v="1" dt="2025-10-07T17:04:22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7"/>
    <p:restoredTop sz="94643"/>
  </p:normalViewPr>
  <p:slideViewPr>
    <p:cSldViewPr snapToGrid="0">
      <p:cViewPr varScale="1">
        <p:scale>
          <a:sx n="109" d="100"/>
          <a:sy n="109" d="100"/>
        </p:scale>
        <p:origin x="77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Relationship Id="rId1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llegas Pico, Hugo N [E CPE]" userId="9364135652_tp_box_2" providerId="OAuth2" clId="{3D4F516D-2092-5C86-B741-CC03F4612374}"/>
    <pc:docChg chg="modSld">
      <pc:chgData name="Villegas Pico, Hugo N [E CPE]" userId="9364135652_tp_box_2" providerId="OAuth2" clId="{3D4F516D-2092-5C86-B741-CC03F4612374}" dt="2025-10-08T15:56:07.947" v="15" actId="1076"/>
      <pc:docMkLst>
        <pc:docMk/>
      </pc:docMkLst>
      <pc:sldChg chg="addSp modSp mod">
        <pc:chgData name="Villegas Pico, Hugo N [E CPE]" userId="9364135652_tp_box_2" providerId="OAuth2" clId="{3D4F516D-2092-5C86-B741-CC03F4612374}" dt="2025-10-08T15:56:07.947" v="15" actId="1076"/>
        <pc:sldMkLst>
          <pc:docMk/>
          <pc:sldMk cId="722138575" sldId="256"/>
        </pc:sldMkLst>
        <pc:spChg chg="mod">
          <ac:chgData name="Villegas Pico, Hugo N [E CPE]" userId="9364135652_tp_box_2" providerId="OAuth2" clId="{3D4F516D-2092-5C86-B741-CC03F4612374}" dt="2025-10-08T15:56:07.947" v="15" actId="1076"/>
          <ac:spMkLst>
            <pc:docMk/>
            <pc:sldMk cId="722138575" sldId="256"/>
            <ac:spMk id="2" creationId="{2AA38D90-9D87-CA99-A5DC-F92409CAA101}"/>
          </ac:spMkLst>
        </pc:spChg>
        <pc:spChg chg="mod">
          <ac:chgData name="Villegas Pico, Hugo N [E CPE]" userId="9364135652_tp_box_2" providerId="OAuth2" clId="{3D4F516D-2092-5C86-B741-CC03F4612374}" dt="2025-10-08T15:56:02.353" v="14" actId="20577"/>
          <ac:spMkLst>
            <pc:docMk/>
            <pc:sldMk cId="722138575" sldId="256"/>
            <ac:spMk id="3" creationId="{A79FBA12-06AE-9524-7BA6-BC164DFD2E50}"/>
          </ac:spMkLst>
        </pc:spChg>
        <pc:picChg chg="add mod">
          <ac:chgData name="Villegas Pico, Hugo N [E CPE]" userId="9364135652_tp_box_2" providerId="OAuth2" clId="{3D4F516D-2092-5C86-B741-CC03F4612374}" dt="2025-10-07T17:04:55.508" v="9" actId="14100"/>
          <ac:picMkLst>
            <pc:docMk/>
            <pc:sldMk cId="722138575" sldId="256"/>
            <ac:picMk id="4" creationId="{F8DEBCBC-471B-3897-7E8D-8FE11B8548F2}"/>
          </ac:picMkLst>
        </pc:picChg>
      </pc:sldChg>
      <pc:sldChg chg="modSp mod">
        <pc:chgData name="Villegas Pico, Hugo N [E CPE]" userId="9364135652_tp_box_2" providerId="OAuth2" clId="{3D4F516D-2092-5C86-B741-CC03F4612374}" dt="2025-10-07T17:09:16.239" v="13" actId="20577"/>
        <pc:sldMkLst>
          <pc:docMk/>
          <pc:sldMk cId="3658506929" sldId="259"/>
        </pc:sldMkLst>
        <pc:spChg chg="mod">
          <ac:chgData name="Villegas Pico, Hugo N [E CPE]" userId="9364135652_tp_box_2" providerId="OAuth2" clId="{3D4F516D-2092-5C86-B741-CC03F4612374}" dt="2025-10-07T17:09:16.239" v="13" actId="20577"/>
          <ac:spMkLst>
            <pc:docMk/>
            <pc:sldMk cId="3658506929" sldId="259"/>
            <ac:spMk id="12" creationId="{B54B5FB6-F516-091E-F4AD-85DC3CDB579D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2254-E9B5-10BC-B9D1-715D67FDD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7BEAC-21E9-5EDD-53C0-B9380DCE8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F67CB-2C95-F63E-4518-7C88E3B1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8EBE-E4DE-5E41-9E0D-F49927F72B1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7C32E-5F0F-009D-1660-4D3431BA7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2B8B2-BC81-541F-CD08-0DE67167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AE5F-F561-784E-8283-F18F0C56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701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014C-C401-9696-89C4-03D8FFBAD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018FD-2140-6028-AA00-395E418D3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F555A-F350-2A33-47F0-81B9F431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8EBE-E4DE-5E41-9E0D-F49927F72B1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6CB5F-E754-1F36-DE02-9209E573A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3B62B-0B58-F13A-833A-62903CE2E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AE5F-F561-784E-8283-F18F0C56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98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F6F7-8776-3173-666A-B858F769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C7E93-79BC-9F9F-5530-80633891C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211F0-A092-8329-8074-C22192F5B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8EBE-E4DE-5E41-9E0D-F49927F72B1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ADD17-7FC5-37C4-E870-95ADC42E1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98096-12FA-73DC-E078-4C589D94B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AE5F-F561-784E-8283-F18F0C56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02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25FB2-1979-9FD0-BAF3-E31192FC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6A939-1ECF-637C-16DF-A92F6E4147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64E642-ADCB-CDD3-0D14-40B8F29BE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0E660-83BF-4B8F-98D5-EFAA922EF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8EBE-E4DE-5E41-9E0D-F49927F72B1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FC2D3-A430-E38E-D0B4-9074AF3F8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9D1FE-5974-45B9-6086-B5DA9CC7F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AE5F-F561-784E-8283-F18F0C56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1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46609-37EB-FED2-0770-6DEF8E07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11E28-3684-781F-CAB9-8B4652E1E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E3D17-8DBA-E1F5-1A8D-3E1D3238B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CC682-8211-3F5C-5624-157FC0FC9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702BD5-5AD9-C1CE-8CDC-EC7BF00854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C0990-334C-177D-AE23-A9AD73748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8EBE-E4DE-5E41-9E0D-F49927F72B1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1BBEC8-16D3-4E93-9D6E-3CC064CD4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B2D7A-1EE4-10DC-5A78-370592454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AE5F-F561-784E-8283-F18F0C56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618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CEAC8-281B-50D4-095C-0969A35BA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ED489E-0233-0525-3F35-A352F7B52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8EBE-E4DE-5E41-9E0D-F49927F72B1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709FD5-4059-BB82-0F39-96CFEBA10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A2645-8361-39D2-3F57-088B4B0F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AE5F-F561-784E-8283-F18F0C56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49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D29A06-79DC-3B7B-3F65-258F212C8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8EBE-E4DE-5E41-9E0D-F49927F72B1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C7A3CF-5A9B-10FA-477B-F2EC92D13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0A9FF-7496-0C36-B262-1ECDDC18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AE5F-F561-784E-8283-F18F0C56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48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1C8F9-651F-19EA-74BA-25FCC0A3C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B1CBB-EF32-0109-3251-AD27F6009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B5B77-9CEA-A2EC-B1C9-0854DF35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21173-08C9-5AB6-34AE-7047403AA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8EBE-E4DE-5E41-9E0D-F49927F72B1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92200-FDF5-BE20-483F-4DE7B2D5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358FF-3EC1-E60C-5470-A527D267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AE5F-F561-784E-8283-F18F0C56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3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EC6D-BA40-B456-EBEE-B2EB38ED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AEF782-B7A3-4D1C-CABA-7FC6C801E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0BDA3A-E811-BCE0-7FE6-71BEC7ACB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0CFFD-C5CF-283E-E802-DDA24A2F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8EBE-E4DE-5E41-9E0D-F49927F72B1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CDA2C-8913-D2CB-275B-84A121D43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9A386-57B2-BDD4-6754-F8F449D56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AE5F-F561-784E-8283-F18F0C56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645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AD14B-6C25-8A8A-3EF0-F1A00ABB3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C9ABC-3C75-92C5-AE51-CA206F6010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DD2CD-4283-68E0-D2E3-8C2B78D93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8EBE-E4DE-5E41-9E0D-F49927F72B1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CF3E9-7E87-805F-FC15-5DA9DB01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E0562-F4B9-81D0-59C3-BA84B438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AE5F-F561-784E-8283-F18F0C56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1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8ADB2C-44D3-92B2-DF99-3257D46A94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440CA-43ED-CABB-B99B-A6CE77478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DE5EA-B0A7-E0BD-3D4E-133C9A903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8EBE-E4DE-5E41-9E0D-F49927F72B1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36636-1F47-74BC-9335-82CBFB4B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D7F21-47AC-470A-49AC-D58A1A62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5AE5F-F561-784E-8283-F18F0C56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290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504BF5-EE7D-FAEE-4EEB-01EBE9DD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859B5-1632-9FC4-8E7E-6DF3CA055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1B37C-6042-47F6-4421-579A524F5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28EBE-E4DE-5E41-9E0D-F49927F72B18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193CF-0345-E836-D34D-67ED6D9E8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559E0-3020-8403-DDCB-263DED2BC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05AE5F-F561-784E-8283-F18F0C56B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05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38D90-9D87-CA99-A5DC-F92409CAA1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925" y="-309564"/>
            <a:ext cx="9144000" cy="2387600"/>
          </a:xfrm>
        </p:spPr>
        <p:txBody>
          <a:bodyPr/>
          <a:lstStyle/>
          <a:p>
            <a:r>
              <a:rPr lang="en-US" dirty="0"/>
              <a:t>Analysis of Power Production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FBA12-06AE-9524-7BA6-BC164DFD2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9925" y="2454554"/>
            <a:ext cx="9144000" cy="1655762"/>
          </a:xfrm>
        </p:spPr>
        <p:txBody>
          <a:bodyPr/>
          <a:lstStyle/>
          <a:p>
            <a:r>
              <a:rPr lang="en-US" dirty="0"/>
              <a:t>Phuong Nguyen and Hugo Villegas</a:t>
            </a:r>
          </a:p>
          <a:p>
            <a:endParaRPr lang="en-US" dirty="0"/>
          </a:p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EBCBC-471B-3897-7E8D-8FE11B854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756" y="2940908"/>
            <a:ext cx="2770306" cy="368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38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EEDF9-5165-F8B5-8319-12CF48E8D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Time-Series Power Measurements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E04224-2AFF-6B37-5DFA-28F454DB0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88" y="2337642"/>
            <a:ext cx="6769125" cy="37218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C469A9-09FB-BF98-963C-21D2325ED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859" y="1788446"/>
            <a:ext cx="4160795" cy="482020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93B38B-E9B2-3C5A-073E-B828B3FE2C72}"/>
              </a:ext>
            </a:extLst>
          </p:cNvPr>
          <p:cNvCxnSpPr>
            <a:cxnSpLocks/>
          </p:cNvCxnSpPr>
          <p:nvPr/>
        </p:nvCxnSpPr>
        <p:spPr>
          <a:xfrm flipH="1">
            <a:off x="2545492" y="2681416"/>
            <a:ext cx="4955059" cy="145406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810A06-0E8D-F736-52A8-4C8FC438E325}"/>
              </a:ext>
            </a:extLst>
          </p:cNvPr>
          <p:cNvCxnSpPr>
            <a:cxnSpLocks/>
          </p:cNvCxnSpPr>
          <p:nvPr/>
        </p:nvCxnSpPr>
        <p:spPr>
          <a:xfrm flipH="1">
            <a:off x="4794422" y="3941805"/>
            <a:ext cx="2706129" cy="38734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E8B0E17-80B7-B586-B30C-8EF9F3FB79B2}"/>
              </a:ext>
            </a:extLst>
          </p:cNvPr>
          <p:cNvSpPr txBox="1"/>
          <p:nvPr/>
        </p:nvSpPr>
        <p:spPr>
          <a:xfrm>
            <a:off x="7982465" y="1788446"/>
            <a:ext cx="3831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power from exp. unit 11 (strawberry)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F4222F-0C87-195A-439C-1ADE3F10CDA3}"/>
              </a:ext>
            </a:extLst>
          </p:cNvPr>
          <p:cNvSpPr txBox="1"/>
          <p:nvPr/>
        </p:nvSpPr>
        <p:spPr>
          <a:xfrm>
            <a:off x="7982465" y="3258906"/>
            <a:ext cx="4216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power from exp. unit 15 (grass or control)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AFA863-F5D9-2A43-435D-0904C2D84F79}"/>
              </a:ext>
            </a:extLst>
          </p:cNvPr>
          <p:cNvSpPr txBox="1"/>
          <p:nvPr/>
        </p:nvSpPr>
        <p:spPr>
          <a:xfrm>
            <a:off x="7982465" y="4749113"/>
            <a:ext cx="3454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power from exp. unit 11 minus 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F3A9E-374A-1C01-7A3C-2516BD64BD0A}"/>
              </a:ext>
            </a:extLst>
          </p:cNvPr>
          <p:cNvSpPr txBox="1"/>
          <p:nvPr/>
        </p:nvSpPr>
        <p:spPr>
          <a:xfrm>
            <a:off x="976184" y="1890584"/>
            <a:ext cx="5997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string rating within an experimental unit is 9.0-kW ca. </a:t>
            </a:r>
          </a:p>
        </p:txBody>
      </p:sp>
    </p:spTree>
    <p:extLst>
      <p:ext uri="{BB962C8B-B14F-4D97-AF65-F5344CB8AC3E}">
        <p14:creationId xmlns:p14="http://schemas.microsoft.com/office/powerpoint/2010/main" val="2049232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A42EF-3233-4EA3-BA38-697FE9BF5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ext cx="11338560" cy="731520"/>
          </a:xfrm>
        </p:spPr>
        <p:txBody>
          <a:bodyPr/>
          <a:lstStyle/>
          <a:p>
            <a:r>
              <a:rPr lang="en-US" dirty="0"/>
              <a:t>Explain about saturated problem</a:t>
            </a:r>
          </a:p>
        </p:txBody>
      </p:sp>
      <p:graphicFrame>
        <p:nvGraphicFramePr>
          <p:cNvPr id="3" name="SATX_S3_TABLE"/>
          <p:cNvGraphicFramePr>
            <a:graphicFrameLocks noGrp="1"/>
          </p:cNvGraphicFramePr>
          <p:nvPr/>
        </p:nvGraphicFramePr>
        <p:xfrm>
          <a:off x="365760" y="1417320"/>
          <a:ext cx="342900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028700"/>
                <a:gridCol w="960120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Shared MPPT 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Saturated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FFFFFF"/>
                          </a:solidFill>
                        </a:rPr>
                        <a:t>Severe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42B"/>
                          </a:solidFill>
                        </a:rPr>
                        <a:t>eu_8 + eu_16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42B"/>
                          </a:solidFill>
                        </a:rPr>
                        <a:t>386.6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42B"/>
                          </a:solidFill>
                        </a:rPr>
                        <a:t>7.1 h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42B"/>
                          </a:solidFill>
                        </a:rPr>
                        <a:t>eu_10 + eu_18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42B"/>
                          </a:solidFill>
                        </a:rPr>
                        <a:t>539.8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42B"/>
                          </a:solidFill>
                        </a:rPr>
                        <a:t>13.0 h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F242B"/>
                          </a:solidFill>
                        </a:rPr>
                        <a:t>eu_13 + eu_21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42B"/>
                          </a:solidFill>
                        </a:rPr>
                        <a:t>342.8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>
                          <a:solidFill>
                            <a:srgbClr val="1F242B"/>
                          </a:solidFill>
                        </a:rPr>
                        <a:t>7.2 h</a:t>
                      </a:r>
                    </a:p>
                  </a:txBody>
                  <a:tcPr/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1F242B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1F242B"/>
                          </a:solidFill>
                        </a:rPr>
                        <a:t>1,269.2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>
                          <a:solidFill>
                            <a:srgbClr val="1F242B"/>
                          </a:solidFill>
                        </a:rPr>
                        <a:t>27.3 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ATX_S3_BODY"/>
          <p:cNvSpPr txBox="1"/>
          <p:nvPr/>
        </p:nvSpPr>
        <p:spPr>
          <a:xfrm>
            <a:off x="365760" y="3017520"/>
            <a:ext cx="3429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 i="0">
                <a:solidFill>
                  <a:srgbClr val="0B638C"/>
                </a:solidFill>
              </a:rPr>
              <a:t>What saturation is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1F242B"/>
                </a:solidFill>
              </a:rPr>
              <a:t>The pair sum stops rising while irradiance keeps rising: the two units share one MPPT channel, the tracker runs out of headroom, and the shortfall is lost energy.</a:t>
            </a:r>
          </a:p>
          <a:p>
            <a:pPr>
              <a:spcAft>
                <a:spcPts val="400"/>
              </a:spcAft>
            </a:pPr>
            <a:r>
              <a:rPr sz="1000" b="1" i="0">
                <a:solidFill>
                  <a:srgbClr val="0B638C"/>
                </a:solidFill>
              </a:rPr>
              <a:t>Detection (vat-v1)</a:t>
            </a:r>
          </a:p>
          <a:p>
            <a:pPr lvl="1">
              <a:spcAft>
                <a:spcPts val="400"/>
              </a:spcAft>
            </a:pPr>
            <a:r>
              <a:rPr sz="1000" b="0" i="0">
                <a:solidFill>
                  <a:srgbClr val="5A636E"/>
                </a:solidFill>
              </a:rPr>
              <a:t>expected = theta(t) * ref</a:t>
            </a:r>
          </a:p>
          <a:p>
            <a:pPr lvl="1">
              <a:spcAft>
                <a:spcPts val="400"/>
              </a:spcAft>
            </a:pPr>
            <a:r>
              <a:rPr sz="1000" b="0" i="0">
                <a:solidFill>
                  <a:srgbClr val="5A636E"/>
                </a:solidFill>
              </a:rPr>
              <a:t>deficit = 1 - measured / expected</a:t>
            </a:r>
          </a:p>
          <a:p>
            <a:pPr lvl="1">
              <a:spcAft>
                <a:spcPts val="400"/>
              </a:spcAft>
            </a:pPr>
            <a:r>
              <a:rPr sz="1000" b="0" i="0">
                <a:solidFill>
                  <a:srgbClr val="5A636E"/>
                </a:solidFill>
              </a:rPr>
              <a:t>moderate: &gt; 15 % for 15 min</a:t>
            </a:r>
          </a:p>
          <a:p>
            <a:pPr lvl="1">
              <a:spcAft>
                <a:spcPts val="400"/>
              </a:spcAft>
            </a:pPr>
            <a:r>
              <a:rPr sz="1000" b="0" i="0">
                <a:solidFill>
                  <a:srgbClr val="5A636E"/>
                </a:solidFill>
              </a:rPr>
              <a:t>severe: &gt; 30 % for 30 min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1F242B"/>
                </a:solidFill>
              </a:rPr>
              <a:t>theta(t) is a slope in watts, so it can be checked against the 9.0 kW nameplate - and it reproduces it to within 4.1 %.</a:t>
            </a:r>
          </a:p>
        </p:txBody>
      </p:sp>
      <p:pic>
        <p:nvPicPr>
          <p:cNvPr id="5" name="SATX_S3_FI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208" y="1188720"/>
            <a:ext cx="7498079" cy="5190978"/>
          </a:xfrm>
          <a:prstGeom prst="rect">
            <a:avLst/>
          </a:prstGeom>
        </p:spPr>
      </p:pic>
      <p:sp>
        <p:nvSpPr>
          <p:cNvPr id="6" name="SATX_S3_CAP"/>
          <p:cNvSpPr txBox="1"/>
          <p:nvPr/>
        </p:nvSpPr>
        <p:spPr>
          <a:xfrm>
            <a:off x="3950208" y="641908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 i="0">
                <a:solidFill>
                  <a:srgbClr val="5A636E"/>
                </a:solidFill>
              </a:rPr>
              <a:t>Four independent validations: (a) normalisation-free peer comparison on real data, (b) the inverter topology natural experiment, (c) the 9.0 kW nameplate cross-check, (d) injected ground truth.</a:t>
            </a:r>
          </a:p>
        </p:txBody>
      </p:sp>
    </p:spTree>
    <p:extLst>
      <p:ext uri="{BB962C8B-B14F-4D97-AF65-F5344CB8AC3E}">
        <p14:creationId xmlns:p14="http://schemas.microsoft.com/office/powerpoint/2010/main" val="154375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TX_S4_TITLE"/>
          <p:cNvSpPr txBox="1"/>
          <p:nvPr/>
        </p:nvSpPr>
        <p:spPr>
          <a:xfrm>
            <a:off x="640080" y="2743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1" i="0">
                <a:solidFill>
                  <a:srgbClr val="1F242B"/>
                </a:solidFill>
              </a:rPr>
              <a:t>Results: 1,269.2 sampled hours of saturation across three shared MPPT channels, 27.3 h of it severe</a:t>
            </a:r>
          </a:p>
        </p:txBody>
      </p:sp>
      <p:graphicFrame>
        <p:nvGraphicFramePr>
          <p:cNvPr id="3" name="SATX_S4_TABLE"/>
          <p:cNvGraphicFramePr>
            <a:graphicFrameLocks noGrp="1"/>
          </p:cNvGraphicFramePr>
          <p:nvPr/>
        </p:nvGraphicFramePr>
        <p:xfrm>
          <a:off x="643467" y="1234440"/>
          <a:ext cx="1090506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9722"/>
                <a:gridCol w="2031335"/>
                <a:gridCol w="1817511"/>
                <a:gridCol w="1924423"/>
                <a:gridCol w="2352073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Shared MPPT pair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severe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flagged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apparent lost energy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eu_8 + eu_16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386.6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7.1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1,873 kWh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eu_10 + eu_18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539.8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13.0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2,538 kWh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eu_13 + eu_21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342.8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7.2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 i="0">
                          <a:solidFill>
                            <a:srgbClr val="1F242B"/>
                          </a:solidFill>
                        </a:rPr>
                        <a:t>1,709 kWh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F242B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F242B"/>
                          </a:solidFill>
                        </a:rPr>
                        <a:t>1,269.2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F242B"/>
                          </a:solidFill>
                        </a:rPr>
                        <a:t>27.3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F242B"/>
                          </a:solidFill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 i="0">
                          <a:solidFill>
                            <a:srgbClr val="1F242B"/>
                          </a:solidFill>
                        </a:rPr>
                        <a:t>6,120 kWh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ATX_S4_BODY"/>
          <p:cNvSpPr txBox="1"/>
          <p:nvPr/>
        </p:nvSpPr>
        <p:spPr>
          <a:xfrm>
            <a:off x="640080" y="34290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1F242B"/>
                </a:solidFill>
              </a:rPr>
              <a:t>Energy is integrated over the detector gate domain (ref &gt;= 0.70 and s &gt; 0.6*expected). The same estimator applied to three pairs on independent trackers attributes only 409 kWh to them - 7 % of the claimed loss - and across all 117 cross-inverter independent pairs the median phantom loss is 92 kWh/pair. That is the residual precision of the energy figure.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1F242B"/>
                </a:solidFill>
              </a:rPr>
              <a:t>The seasonal structure is coherent: flags peak in May-July, vanish in the acquisition gaps and when the pairs are off, and show a secondary peak on cold, clear February days.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5A636E"/>
                </a:solidFill>
              </a:rPr>
              <a:t>Canonical artefact: saturation_flags.csv (51,005 x 21), regenerated from vat-v1 and locked by sat_work/canonical/CANONICAL_vat-v1.json. Guarded by 51 regression tests.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5A636E"/>
                </a:solidFill>
              </a:rPr>
              <a:t>Known limitation: the raw deficit column is only defined inside the decision domain (ref &gt;= 0.70, both units active, no data-quality flag); it is NaN elsewhere by design.</a:t>
            </a:r>
          </a:p>
        </p:txBody>
      </p:sp>
    </p:spTree>
    <p:extLst>
      <p:ext uri="{BB962C8B-B14F-4D97-AF65-F5344CB8AC3E}">
        <p14:creationId xmlns:p14="http://schemas.microsoft.com/office/powerpoint/2010/main" val="1984615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55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Analysis of Power Production </vt:lpstr>
      <vt:lpstr>Time-Series Power Measurements</vt:lpstr>
      <vt:lpstr>Explain about saturated problem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Power Production </dc:title>
  <dc:creator>Hugo N. Villegas Pico</dc:creator>
  <cp:lastModifiedBy>Nguyen, Phuong H</cp:lastModifiedBy>
  <cp:revision>6</cp:revision>
  <dcterms:created xsi:type="dcterms:W3CDTF">2025-10-07T15:31:04Z</dcterms:created>
  <dcterms:modified xsi:type="dcterms:W3CDTF">2026-05-13T20:47:00Z</dcterms:modified>
</cp:coreProperties>
</file>